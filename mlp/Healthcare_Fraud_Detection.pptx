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276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8DADC"/>
                </a:solidFill>
              </a:rPr>
              <a:t>MACHINE LEARNING CAPSTONE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</a:rPr>
              <a:t>Healthcare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Fraud Detection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2286000" cy="36576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DADC"/>
                </a:solidFill>
              </a:rPr>
              <a:t>UGASS Data Science Club  ×  Zindi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Team Members:  [Name 1]  |  [Name 2]  |  [Name 3]  |  [Name 4]  |  [Name 5]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Problem Statement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651760" cy="164592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$300B+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Lost to healthcare fraud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in the US annually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0" y="1005840"/>
            <a:ext cx="2651760" cy="164592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7" name="Text 5"/>
          <p:cNvSpPr/>
          <p:nvPr/>
        </p:nvSpPr>
        <p:spPr>
          <a:xfrm>
            <a:off x="3200400" y="1097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8.3%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0040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Of claims in our dataset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are fraudulent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005840"/>
            <a:ext cx="2651760" cy="16459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6035040" y="1097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10,000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03504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Insurance claims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analysed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The Challenge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4F72"/>
                </a:solidFill>
              </a:rPr>
              <a:t>Build a machine learning model that automatically detects fraudulent insurance claims.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4F72"/>
                </a:solidFill>
              </a:rPr>
              <a:t>Key difficulty: only 8.3% of claims are fraud — a highly imbalanced classification problem.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B4F72"/>
                </a:solidFill>
              </a:rPr>
              <a:t>A naive model predicting 'No Fraud' always scores 91.7% accuracy — that is a failed model.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EDA Highlights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502920" cy="15544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1097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Class Imbalance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91.7% of claims are NOT fraud. Accuracy alone is misleading — F1 and ROC-AUC are the true measures of success.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502920" cy="15544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4754880" y="13716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49240" y="1097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Claim Amount Signal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49240" y="1508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Fraudulent claims average ~$990 vs ~$535 for legitimate claims. Nearly 2× higher — the strongest single predictor.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4" name="Shape 12"/>
          <p:cNvSpPr/>
          <p:nvPr/>
        </p:nvSpPr>
        <p:spPr>
          <a:xfrm>
            <a:off x="365760" y="2788920"/>
            <a:ext cx="502920" cy="15544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Text 13"/>
          <p:cNvSpPr/>
          <p:nvPr/>
        </p:nvSpPr>
        <p:spPr>
          <a:xfrm>
            <a:off x="365760" y="31546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2880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Provider Clustering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3291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Fraud clusters around specific providers. Some providers have &gt;40% fraud rates, making provider history a key feature.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27889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9" name="Shape 17"/>
          <p:cNvSpPr/>
          <p:nvPr/>
        </p:nvSpPr>
        <p:spPr>
          <a:xfrm>
            <a:off x="4754880" y="2788920"/>
            <a:ext cx="502920" cy="15544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8"/>
          <p:cNvSpPr/>
          <p:nvPr/>
        </p:nvSpPr>
        <p:spPr>
          <a:xfrm>
            <a:off x="4754880" y="31546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2880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Missing Data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49240" y="3291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350 missing values in Insurance_Type, Provider_Specialty, and Prior_Visits_12m. Filled using mode and median.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Data Preparation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051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Drop Irrelevant Columns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Removed Claim_ID and Claim_Submission_Date — no predictive value.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47548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57800" y="1051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Handle Missing Values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5780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Categorical: filled with mode.  Numerical: filled with median (robust to outliers).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24028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41148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Text 13"/>
          <p:cNvSpPr/>
          <p:nvPr/>
        </p:nvSpPr>
        <p:spPr>
          <a:xfrm>
            <a:off x="36576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Feature Engineering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Created 3 new features: claim_to_approved_ratio, provider_fraud_rate, claim_per_day.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224028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9" name="Shape 17"/>
          <p:cNvSpPr/>
          <p:nvPr/>
        </p:nvSpPr>
        <p:spPr>
          <a:xfrm>
            <a:off x="4754880" y="2240280"/>
            <a:ext cx="41148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8"/>
          <p:cNvSpPr/>
          <p:nvPr/>
        </p:nvSpPr>
        <p:spPr>
          <a:xfrm>
            <a:off x="47548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5780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One-Hot Encoding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578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Converted all text columns to 0/1 numeric format. Final dataset: 41 features.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474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4" name="Shape 22"/>
          <p:cNvSpPr/>
          <p:nvPr/>
        </p:nvSpPr>
        <p:spPr>
          <a:xfrm>
            <a:off x="365760" y="3474720"/>
            <a:ext cx="41148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5" name="Text 23"/>
          <p:cNvSpPr/>
          <p:nvPr/>
        </p:nvSpPr>
        <p:spPr>
          <a:xfrm>
            <a:off x="36576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3520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Train / Test Split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8680" y="3886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80% train, 20% test. Used stratify=y to preserve fraud ratio in both sets.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3474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9" name="Shape 27"/>
          <p:cNvSpPr/>
          <p:nvPr/>
        </p:nvSpPr>
        <p:spPr>
          <a:xfrm>
            <a:off x="4754880" y="3474720"/>
            <a:ext cx="41148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0" name="Text 28"/>
          <p:cNvSpPr/>
          <p:nvPr/>
        </p:nvSpPr>
        <p:spPr>
          <a:xfrm>
            <a:off x="475488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57800" y="3520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StandardScaler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57800" y="3886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Scaled numeric features. Fitted on train only — applied to test. No data leakage.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Model Selection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64592" cy="10972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68580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Logistic Regression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44475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Simple, fast, interpretable baseline. class_weight='balanced' handles imbalance.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766560" y="1097280"/>
            <a:ext cx="1737360" cy="347472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6766560" y="1097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B5E20"/>
                </a:solidFill>
              </a:rPr>
              <a:t>✓ Interpretable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66560" y="1508760"/>
            <a:ext cx="1737360" cy="347472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8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6766560" y="1508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65100"/>
                </a:solidFill>
              </a:rPr>
              <a:t>△ Linear boundaries only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228600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Shape 10"/>
          <p:cNvSpPr/>
          <p:nvPr/>
        </p:nvSpPr>
        <p:spPr>
          <a:xfrm>
            <a:off x="365760" y="2286000"/>
            <a:ext cx="164592" cy="109728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3" name="Text 11"/>
          <p:cNvSpPr/>
          <p:nvPr/>
        </p:nvSpPr>
        <p:spPr>
          <a:xfrm>
            <a:off x="685800" y="2331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Random Forest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72491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Ensemble of 100 decision trees. Handles non-linear patterns. class_weight='balanced'.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66560" y="2377440"/>
            <a:ext cx="1737360" cy="347472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6766560" y="23774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B5E20"/>
                </a:solidFill>
              </a:rPr>
              <a:t>✓ Robust, handles noise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66560" y="2788920"/>
            <a:ext cx="1737360" cy="347472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8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8" name="Text 16"/>
          <p:cNvSpPr/>
          <p:nvPr/>
        </p:nvSpPr>
        <p:spPr>
          <a:xfrm>
            <a:off x="6766560" y="27889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65100"/>
                </a:solidFill>
              </a:rPr>
              <a:t>△ Slower to train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3566160"/>
            <a:ext cx="8412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Shape 18"/>
          <p:cNvSpPr/>
          <p:nvPr/>
        </p:nvSpPr>
        <p:spPr>
          <a:xfrm>
            <a:off x="365760" y="3566160"/>
            <a:ext cx="164592" cy="10972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1" name="Text 19"/>
          <p:cNvSpPr/>
          <p:nvPr/>
        </p:nvSpPr>
        <p:spPr>
          <a:xfrm>
            <a:off x="68580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XGBoost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00507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Gradient boosting — learns from errors iteratively. scale_pos_weight handles imbalance.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66560" y="3657600"/>
            <a:ext cx="1737360" cy="347472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4" name="Text 22"/>
          <p:cNvSpPr/>
          <p:nvPr/>
        </p:nvSpPr>
        <p:spPr>
          <a:xfrm>
            <a:off x="6766560" y="36576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B5E20"/>
                </a:solidFill>
              </a:rPr>
              <a:t>✓ Often best performer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66560" y="4069080"/>
            <a:ext cx="1737360" cy="347472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8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6" name="Text 24"/>
          <p:cNvSpPr/>
          <p:nvPr/>
        </p:nvSpPr>
        <p:spPr>
          <a:xfrm>
            <a:off x="6766560" y="40690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65100"/>
                </a:solidFill>
              </a:rPr>
              <a:t>△ More hyperparameters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Model 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19456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560320" y="1005840"/>
            <a:ext cx="1188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2560320" y="1005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Accuracy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749040" y="1005840"/>
            <a:ext cx="1188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3749040" y="1005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Precision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005840"/>
            <a:ext cx="1188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4937760" y="1005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Recall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1188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6126480" y="1005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F1-Score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0" y="1005840"/>
            <a:ext cx="1188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4" name="Text 12"/>
          <p:cNvSpPr/>
          <p:nvPr/>
        </p:nvSpPr>
        <p:spPr>
          <a:xfrm>
            <a:off x="7315200" y="1005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ROC-AUC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463040"/>
            <a:ext cx="21945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365760" y="1463040"/>
            <a:ext cx="219456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0D1B2A"/>
                </a:solidFill>
              </a:rPr>
              <a:t>Logistic Regression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560320" y="146304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8" name="Text 16"/>
          <p:cNvSpPr/>
          <p:nvPr/>
        </p:nvSpPr>
        <p:spPr>
          <a:xfrm>
            <a:off x="25603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98.2%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749040" y="146304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8"/>
          <p:cNvSpPr/>
          <p:nvPr/>
        </p:nvSpPr>
        <p:spPr>
          <a:xfrm>
            <a:off x="374904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93.1%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937760" y="146304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2" name="Text 20"/>
          <p:cNvSpPr/>
          <p:nvPr/>
        </p:nvSpPr>
        <p:spPr>
          <a:xfrm>
            <a:off x="493776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87.5%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146304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4" name="Text 22"/>
          <p:cNvSpPr/>
          <p:nvPr/>
        </p:nvSpPr>
        <p:spPr>
          <a:xfrm>
            <a:off x="612648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90.2%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146304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6" name="Text 24"/>
          <p:cNvSpPr/>
          <p:nvPr/>
        </p:nvSpPr>
        <p:spPr>
          <a:xfrm>
            <a:off x="731520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99.9%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65760" y="2011680"/>
            <a:ext cx="2194560" cy="502920"/>
          </a:xfrm>
          <a:prstGeom prst="rect">
            <a:avLst/>
          </a:prstGeom>
          <a:solidFill>
            <a:srgbClr val="E3F2FD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8" name="Text 26"/>
          <p:cNvSpPr/>
          <p:nvPr/>
        </p:nvSpPr>
        <p:spPr>
          <a:xfrm>
            <a:off x="365760" y="2011680"/>
            <a:ext cx="219456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0D1B2A"/>
                </a:solidFill>
              </a:rPr>
              <a:t>Random Forest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560320" y="2011680"/>
            <a:ext cx="1188720" cy="502920"/>
          </a:xfrm>
          <a:prstGeom prst="rect">
            <a:avLst/>
          </a:prstGeom>
          <a:solidFill>
            <a:srgbClr val="E3F2FD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0" name="Text 28"/>
          <p:cNvSpPr/>
          <p:nvPr/>
        </p:nvSpPr>
        <p:spPr>
          <a:xfrm>
            <a:off x="256032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5276"/>
                </a:solidFill>
              </a:rPr>
              <a:t>99.5%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749040" y="2011680"/>
            <a:ext cx="1188720" cy="502920"/>
          </a:xfrm>
          <a:prstGeom prst="rect">
            <a:avLst/>
          </a:prstGeom>
          <a:solidFill>
            <a:srgbClr val="E3F2FD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2" name="Text 30"/>
          <p:cNvSpPr/>
          <p:nvPr/>
        </p:nvSpPr>
        <p:spPr>
          <a:xfrm>
            <a:off x="374904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5276"/>
                </a:solidFill>
              </a:rPr>
              <a:t>96.8%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937760" y="2011680"/>
            <a:ext cx="1188720" cy="502920"/>
          </a:xfrm>
          <a:prstGeom prst="rect">
            <a:avLst/>
          </a:prstGeom>
          <a:solidFill>
            <a:srgbClr val="E3F2FD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4" name="Text 32"/>
          <p:cNvSpPr/>
          <p:nvPr/>
        </p:nvSpPr>
        <p:spPr>
          <a:xfrm>
            <a:off x="493776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5276"/>
                </a:solidFill>
              </a:rPr>
              <a:t>96.0%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126480" y="2011680"/>
            <a:ext cx="1188720" cy="502920"/>
          </a:xfrm>
          <a:prstGeom prst="rect">
            <a:avLst/>
          </a:prstGeom>
          <a:solidFill>
            <a:srgbClr val="E3F2FD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6" name="Text 34"/>
          <p:cNvSpPr/>
          <p:nvPr/>
        </p:nvSpPr>
        <p:spPr>
          <a:xfrm>
            <a:off x="612648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5276"/>
                </a:solidFill>
              </a:rPr>
              <a:t>96.4%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315200" y="2011680"/>
            <a:ext cx="1188720" cy="502920"/>
          </a:xfrm>
          <a:prstGeom prst="rect">
            <a:avLst/>
          </a:prstGeom>
          <a:solidFill>
            <a:srgbClr val="E3F2FD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8" name="Text 36"/>
          <p:cNvSpPr/>
          <p:nvPr/>
        </p:nvSpPr>
        <p:spPr>
          <a:xfrm>
            <a:off x="7315200" y="2011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5276"/>
                </a:solidFill>
              </a:rPr>
              <a:t>99.9%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65760" y="2560320"/>
            <a:ext cx="21945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0" name="Text 38"/>
          <p:cNvSpPr/>
          <p:nvPr/>
        </p:nvSpPr>
        <p:spPr>
          <a:xfrm>
            <a:off x="36576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0D1B2A"/>
                </a:solidFill>
              </a:rPr>
              <a:t>XGBoost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560320" y="256032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2" name="Text 40"/>
          <p:cNvSpPr/>
          <p:nvPr/>
        </p:nvSpPr>
        <p:spPr>
          <a:xfrm>
            <a:off x="2560320" y="25603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99.4%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749040" y="256032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4" name="Text 42"/>
          <p:cNvSpPr/>
          <p:nvPr/>
        </p:nvSpPr>
        <p:spPr>
          <a:xfrm>
            <a:off x="3749040" y="25603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96.2%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937760" y="256032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6" name="Text 44"/>
          <p:cNvSpPr/>
          <p:nvPr/>
        </p:nvSpPr>
        <p:spPr>
          <a:xfrm>
            <a:off x="4937760" y="25603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96.8%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126480" y="256032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8" name="Text 46"/>
          <p:cNvSpPr/>
          <p:nvPr/>
        </p:nvSpPr>
        <p:spPr>
          <a:xfrm>
            <a:off x="6126480" y="25603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5276"/>
                </a:solidFill>
              </a:rPr>
              <a:t>96.5%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315200" y="2560320"/>
            <a:ext cx="1188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0" name="Text 48"/>
          <p:cNvSpPr/>
          <p:nvPr/>
        </p:nvSpPr>
        <p:spPr>
          <a:xfrm>
            <a:off x="7315200" y="25603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D1B2A"/>
                </a:solidFill>
              </a:rPr>
              <a:t>99.9%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365760" y="3611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72"/>
                </a:solidFill>
              </a:rPr>
              <a:t>🏆  Random Forest selected as the winning model based on F1-Score and reliability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* Key metric is F1-Score, not Accuracy — due to class imbalance (8.3% fraud rate)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The Winning Model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93192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Tuned Random Forest Classifier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3931920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n_estimators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0" y="1920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</a:rPr>
              <a:t>300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2340864"/>
            <a:ext cx="3931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9" name="Text 7"/>
          <p:cNvSpPr/>
          <p:nvPr/>
        </p:nvSpPr>
        <p:spPr>
          <a:xfrm>
            <a:off x="457200" y="23408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max_depth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60320" y="23408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</a:rPr>
              <a:t>None (full)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761488"/>
            <a:ext cx="3931920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457200" y="27614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min_samples_split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</a:rPr>
              <a:t>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182112"/>
            <a:ext cx="3931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Text 13"/>
          <p:cNvSpPr/>
          <p:nvPr/>
        </p:nvSpPr>
        <p:spPr>
          <a:xfrm>
            <a:off x="457200" y="3182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min_samples_leaf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0" y="31821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</a:rPr>
              <a:t>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602736"/>
            <a:ext cx="3931920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8" name="Text 16"/>
          <p:cNvSpPr/>
          <p:nvPr/>
        </p:nvSpPr>
        <p:spPr>
          <a:xfrm>
            <a:off x="457200" y="360273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max_features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560320" y="36027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</a:rPr>
              <a:t>log2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4023360"/>
            <a:ext cx="3931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class_weight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560320" y="402336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</a:rPr>
              <a:t>balanced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914400"/>
            <a:ext cx="1920240" cy="128016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4" name="Text 22"/>
          <p:cNvSpPr/>
          <p:nvPr/>
        </p:nvSpPr>
        <p:spPr>
          <a:xfrm>
            <a:off x="4663440" y="1051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96.8%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66344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F1-Score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66560" y="914400"/>
            <a:ext cx="1920240" cy="128016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7" name="Text 25"/>
          <p:cNvSpPr/>
          <p:nvPr/>
        </p:nvSpPr>
        <p:spPr>
          <a:xfrm>
            <a:off x="6766560" y="1051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99.9%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766560" y="1737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ROC-AUC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2377440"/>
            <a:ext cx="1920240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0" name="Text 28"/>
          <p:cNvSpPr/>
          <p:nvPr/>
        </p:nvSpPr>
        <p:spPr>
          <a:xfrm>
            <a:off x="4663440" y="25146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96.0%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66344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Recall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66560" y="2377440"/>
            <a:ext cx="1920240" cy="12801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3" name="Text 31"/>
          <p:cNvSpPr/>
          <p:nvPr/>
        </p:nvSpPr>
        <p:spPr>
          <a:xfrm>
            <a:off x="6766560" y="25146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97.6%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6766560" y="3200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Precision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4F72"/>
                </a:solidFill>
              </a:rPr>
              <a:t>5-Fold Cross-Validation Mean F1: 96.77%  (Std: 0.006) — model is stable and reliable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Feature Importance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65760" y="10058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claim_to_approved_ratio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246120" y="1078992"/>
            <a:ext cx="5084064" cy="25603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8421624" y="100584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0.447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149961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Days_Between_Service_and_Claim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46120" y="1572768"/>
            <a:ext cx="3122676" cy="256032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6460236" y="149961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0.274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99339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Claim_Amount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066544"/>
            <a:ext cx="758952" cy="25603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1" name="Text 9"/>
          <p:cNvSpPr/>
          <p:nvPr/>
        </p:nvSpPr>
        <p:spPr>
          <a:xfrm>
            <a:off x="4096512" y="19933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0.064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248716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Claim_Status_Rejected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2560320"/>
            <a:ext cx="507492" cy="25603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4" name="Text 12"/>
          <p:cNvSpPr/>
          <p:nvPr/>
        </p:nvSpPr>
        <p:spPr>
          <a:xfrm>
            <a:off x="3845052" y="24871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0.041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29809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provider_fraud_rate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3054096"/>
            <a:ext cx="507492" cy="25603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7" name="Text 15"/>
          <p:cNvSpPr/>
          <p:nvPr/>
        </p:nvSpPr>
        <p:spPr>
          <a:xfrm>
            <a:off x="3845052" y="29809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0.039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34747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claim_per_day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3547872"/>
            <a:ext cx="356616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8"/>
          <p:cNvSpPr/>
          <p:nvPr/>
        </p:nvSpPr>
        <p:spPr>
          <a:xfrm>
            <a:off x="3694176" y="34747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0.027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3968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Claim_Status_Pending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4041648"/>
            <a:ext cx="356616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3" name="Text 21"/>
          <p:cNvSpPr/>
          <p:nvPr/>
        </p:nvSpPr>
        <p:spPr>
          <a:xfrm>
            <a:off x="3694176" y="396849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0.026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Approved_Amount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4535424"/>
            <a:ext cx="356616" cy="25603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6" name="Text 24"/>
          <p:cNvSpPr/>
          <p:nvPr/>
        </p:nvSpPr>
        <p:spPr>
          <a:xfrm>
            <a:off x="3694176" y="446227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0.026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68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4F72"/>
                </a:solidFill>
              </a:rPr>
              <a:t>Key insight: claim_to_approved_ratio alone explains 44.7% of the model's decisions — a feature we engineered!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Business Recommendations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🚩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51560" y="11155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Flag High-Ratio Claims Immediately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Any claim where Claim Amount is &gt;1.5× the Approved Amount should trigger automatic review. This single rule catches most fraud.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4800600" y="1143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49240" y="11155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Audit Slow-Submitted Claims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0600" y="1600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Claims submitted many days after the service date are a strong fraud signal. Implement a 30-day submission deadline policy.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7889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50292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🏥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51560" y="289864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Monitor High-Risk Providers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Providers with a historical fraud rate &gt;20% should be placed on a watchlist. Assign a dedicated investigator per quarter.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27889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480060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349240" y="289864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Deploy Real-Time Scoring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Integrate this model into the claims processing pipeline to auto-score each claim before payout. Estimated savings: 8% of total claims value.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B2A"/>
                </a:solidFill>
              </a:rPr>
              <a:t>Challenges &amp; Future 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CHALLENGES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3931920" cy="594360"/>
          </a:xfrm>
          <a:prstGeom prst="rect">
            <a:avLst/>
          </a:prstGeom>
          <a:solidFill>
            <a:srgbClr val="FDEDEC"/>
          </a:solidFill>
          <a:ln w="12700">
            <a:solidFill>
              <a:srgbClr val="FADBD8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— Class imbalance — 91.7% vs 8.3% split made accuracy useless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3931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ADBD8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— Data leakage risk — had to be careful with scaling and provider encoding order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3931920" cy="594360"/>
          </a:xfrm>
          <a:prstGeom prst="rect">
            <a:avLst/>
          </a:prstGeom>
          <a:solidFill>
            <a:srgbClr val="FDEDEC"/>
          </a:solidFill>
          <a:ln w="12700">
            <a:solidFill>
              <a:srgbClr val="FADBD8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502920" y="2743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— Feature selection — deciding which engineered features genuinely add value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3429000"/>
            <a:ext cx="3931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ADBD8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502920" y="34290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— Hyperparameter search — balancing tuning time vs improvement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114800" cy="4114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4" name="Text 12"/>
          <p:cNvSpPr/>
          <p:nvPr/>
        </p:nvSpPr>
        <p:spPr>
          <a:xfrm>
            <a:off x="4663440" y="9601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FUTURE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114800" cy="594360"/>
          </a:xfrm>
          <a:prstGeom prst="rect">
            <a:avLst/>
          </a:prstGeom>
          <a:solidFill>
            <a:srgbClr val="E9F7EF"/>
          </a:solidFill>
          <a:ln w="12700">
            <a:solidFill>
              <a:srgbClr val="A9DFB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4800600" y="13716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→ Apply SMOTE to oversample fraud cases during training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2057400"/>
            <a:ext cx="4114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9DFB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8" name="Text 16"/>
          <p:cNvSpPr/>
          <p:nvPr/>
        </p:nvSpPr>
        <p:spPr>
          <a:xfrm>
            <a:off x="4800600" y="20574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→ Try LightGBM and neural networks for comparison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743200"/>
            <a:ext cx="4114800" cy="594360"/>
          </a:xfrm>
          <a:prstGeom prst="rect">
            <a:avLst/>
          </a:prstGeom>
          <a:solidFill>
            <a:srgbClr val="E9F7EF"/>
          </a:solidFill>
          <a:ln w="12700">
            <a:solidFill>
              <a:srgbClr val="A9DFB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8"/>
          <p:cNvSpPr/>
          <p:nvPr/>
        </p:nvSpPr>
        <p:spPr>
          <a:xfrm>
            <a:off x="4800600" y="27432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→ Add time-based features from claim submission dates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3429000"/>
            <a:ext cx="4114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9DFB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2" name="Text 20"/>
          <p:cNvSpPr/>
          <p:nvPr/>
        </p:nvSpPr>
        <p:spPr>
          <a:xfrm>
            <a:off x="4800600" y="34290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→ Build a live Streamlit dashboard for real-time detection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</a:rPr>
              <a:t>Thank You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36576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DADC"/>
                </a:solidFill>
              </a:rPr>
              <a:t>Questions &amp; Discussion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ADC"/>
                </a:solidFill>
              </a:rPr>
              <a:t>📁  GitHub Repo:  github.com/your-team/healthcare-fraud-detection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ADC"/>
                </a:solidFill>
              </a:rPr>
              <a:t>📊  Dataset:  healthcare_fraud_detection.csv  (10,000 rows × 20 columns)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ADC"/>
                </a:solidFill>
              </a:rPr>
              <a:t>🏆  Best Model:  Tuned Random Forest  |  F1: 96.8%  |  ROC-AUC: 99.9%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ADC"/>
                </a:solidFill>
              </a:rPr>
              <a:t>📅  Submitted:  May 16,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920</Words>
  <Application>Microsoft Office PowerPoint</Application>
  <PresentationFormat>On-screen Show (16:9)</PresentationFormat>
  <Paragraphs>174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Fraud Detection — ML Capstone</dc:title>
  <dc:subject>PptxGenJS Presentation</dc:subject>
  <dc:creator>PptxGenJS</dc:creator>
  <cp:lastModifiedBy>FERDINARD AFFUL BENTUM</cp:lastModifiedBy>
  <cp:revision>2</cp:revision>
  <dcterms:created xsi:type="dcterms:W3CDTF">2026-05-14T09:03:12Z</dcterms:created>
  <dcterms:modified xsi:type="dcterms:W3CDTF">2026-05-16T17:25:03Z</dcterms:modified>
</cp:coreProperties>
</file>