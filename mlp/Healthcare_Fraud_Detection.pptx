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8DADC"/>
                </a:solidFill>
              </a:rPr>
              <a:t>MACHINE LEARNING CAPSTONE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Healthcare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Fraud Detection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2860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ADC"/>
                </a:solidFill>
              </a:rPr>
              <a:t>UGASS Data Science Club  ×  Zindi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Team Members:  [Name 1]  |  [Name 2]  |  [Name 3]  |  [Name 4]  |  [Name 5]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5176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$300B+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Lost to healthcare fraud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 the US annually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651760" cy="1645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097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8.3%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claims in our dataset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are fraudulent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51760" cy="1645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097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10,000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3504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Insurance claims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analysed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F72"/>
                </a:solidFill>
              </a:rPr>
              <a:t>Build a machine learning model that automatically detects fraudulent insurance claims.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4F72"/>
                </a:solidFill>
              </a:rPr>
              <a:t>Key difficulty: only 8.3% of claims are fraud — a highly imbalanced classification problem.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4F72"/>
                </a:solidFill>
              </a:rPr>
              <a:t>A naive model predicting 'No Fraud' always scores 91.7% accuracy — that is a failed model.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EDA 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Class Imbalance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91.7% of claims are NOT fraud. Accuracy alone is misleading — F1 and ROC-AUC are the true measures of success.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502920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371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Claim Amount Signal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508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Fraudulent claims average ~$990 vs ~$535 for legitimate claims. Nearly 2× higher — the strongest single predictor.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502920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Provider Clustering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Fraud clusters around specific providers. Some providers have &gt;40% fraud rates, making provider history a key feature.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788920"/>
            <a:ext cx="502920" cy="1554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54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Missing Data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350 missing values in Insurance_Type, Provider_Specialty, and Prior_Visits_12m. Filled using mode and median.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Data Preparation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Drop Irrelevant Columns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Removed Claim_ID and Claim_Submission_Date — no predictive value.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05840"/>
            <a:ext cx="411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Handle Missing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1417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Categorical: filled with mode.  Numerical: filled with median (robust to outliers).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40280"/>
            <a:ext cx="411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Created 3 new features: claim_to_approved_ratio, provider_fraud_rate, claim_per_day.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240280"/>
            <a:ext cx="411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578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One-Hot Encoding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651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Converted all text columns to 0/1 numeric format. Final dataset: 41 features.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474720"/>
            <a:ext cx="411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Train / Test Split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886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80% train, 20% test. Used stratify=y to preserve fraud ratio in both sets.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474720"/>
            <a:ext cx="41148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StandardScaler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886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Scaled numeric features. Fitted on train only — applied to test. No data leakage.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Model Selection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64592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Simple, fast, interpretable baseline. class_weight='balanced' handles imbalance.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66560" y="1097280"/>
            <a:ext cx="173736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✓ Interpretable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766560" y="1508760"/>
            <a:ext cx="173736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508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</a:rPr>
              <a:t>△ Linear boundaries only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86000"/>
            <a:ext cx="164592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7249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Ensemble of 100 decision trees. Handles non-linear patterns. class_weight='balanced'.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2377440"/>
            <a:ext cx="173736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3774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✓ Robust, handles noise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2788920"/>
            <a:ext cx="173736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7889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</a:rPr>
              <a:t>△ Slower to train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66160"/>
            <a:ext cx="164592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XGBoost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0050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Gradient boosting — learns from errors iteratively. scale_pos_weight handles imbalance.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3657600"/>
            <a:ext cx="173736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657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5E20"/>
                </a:solidFill>
              </a:rPr>
              <a:t>✓ Often best performer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4069080"/>
            <a:ext cx="173736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</a:rPr>
              <a:t>△ More hyperparameters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Model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1945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0" y="1005840"/>
            <a:ext cx="1188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1005840"/>
            <a:ext cx="1188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1188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Recall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1188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F1-Score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0" y="1005840"/>
            <a:ext cx="11887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005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46304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Logistic Regression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60320" y="146304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98.2%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49040" y="146304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93.1%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937760" y="146304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87.5%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146304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90.2%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0" y="146304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99.9%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2011680"/>
            <a:ext cx="219456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Random Forest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560320" y="2011680"/>
            <a:ext cx="11887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276"/>
                </a:solidFill>
              </a:rPr>
              <a:t>99.5%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749040" y="2011680"/>
            <a:ext cx="11887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276"/>
                </a:solidFill>
              </a:rPr>
              <a:t>96.8%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37760" y="2011680"/>
            <a:ext cx="11887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276"/>
                </a:solidFill>
              </a:rPr>
              <a:t>96.0%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2011680"/>
            <a:ext cx="11887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276"/>
                </a:solidFill>
              </a:rPr>
              <a:t>96.4%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15200" y="2011680"/>
            <a:ext cx="118872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276"/>
                </a:solidFill>
              </a:rPr>
              <a:t>99.9%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65760" y="256032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560320"/>
            <a:ext cx="21945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XGBoost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60320" y="25603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2560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99.4%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749040" y="25603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2560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96.2%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937760" y="25603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2560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96.8%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126480" y="25603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2560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5276"/>
                </a:solidFill>
              </a:rPr>
              <a:t>96.5%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315200" y="2560320"/>
            <a:ext cx="1188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0" y="25603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99.9%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65760" y="3611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🏆  Random Forest selected as the winning model based on F1-Score and reliability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* Key metric is F1-Score, not Accuracy — due to class imbalance (8.3% fraud rate)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The Winning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Tuned Random Forest Classifier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393192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n_estimators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60320" y="1920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300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40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max_depth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0" y="23408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None (full)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393192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614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min_samples_split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27614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82112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82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min_samples_leaf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3182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02736"/>
            <a:ext cx="3931920" cy="384048"/>
          </a:xfrm>
          <a:prstGeom prst="rect">
            <a:avLst/>
          </a:prstGeom>
          <a:solidFill>
            <a:srgbClr val="EBF5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027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max_features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36027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log2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3931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23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class_weight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balanced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914400"/>
            <a:ext cx="1920240" cy="12801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96.8%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6634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F1-Score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914400"/>
            <a:ext cx="192024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99.9%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76656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ROC-AUC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377440"/>
            <a:ext cx="1920240" cy="12801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96.0%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2377440"/>
            <a:ext cx="1920240" cy="12801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514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97.6%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766560" y="3200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4F72"/>
                </a:solidFill>
              </a:rPr>
              <a:t>5-Fold Cross-Validation Mean F1: 96.77%  (Std: 0.006) — model is stable and reliable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Feature Importance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claim_to_approved_ratio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46120" y="1078992"/>
            <a:ext cx="5084064" cy="25603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21624" y="10058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0.447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49961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Days_Between_Service_and_Claim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572768"/>
            <a:ext cx="3122676" cy="2560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0236" y="149961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0.274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Claim_Amount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066544"/>
            <a:ext cx="758952" cy="25603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19933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0.064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Claim_Status_Rejected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560320"/>
            <a:ext cx="507492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5052" y="248716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0.041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9809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provider_fraud_rate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3054096"/>
            <a:ext cx="507492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5052" y="298094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0.039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4747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claim_per_day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3547872"/>
            <a:ext cx="356616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94176" y="34747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968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Claim_Status_Pending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4041648"/>
            <a:ext cx="356616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94176" y="396849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4622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Approved_Amount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4535424"/>
            <a:ext cx="356616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94176" y="446227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0.026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72"/>
                </a:solidFill>
              </a:rPr>
              <a:t>Key insight: claim_to_approved_ratio alone explains 44.7% of the model's decisions — a feature we engineered!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115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Flag High-Ratio Claims Immediately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Any claim where Claim Amount is &gt;1.5× the Approved Amount should trigger automatic review. This single rule catches most fraud.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49240" y="1115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Audit Slow-Submitted Claims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600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Claims submitted many days after the service date are a strong fraud signal. Implement a 30-day submission deadline policy.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51560" y="2898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Monitor High-Risk Providers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Providers with a historical fraud rate &gt;20% should be placed on a watchlist. Assign a dedicated investigator per quarter.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49240" y="2898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Deploy Real-Time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383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Integrate this model into the claims processing pipeline to auto-score each claim before payout. Estimated savings: 8% of total claims value.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Challenges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CHALLENGES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594360"/>
          </a:xfrm>
          <a:prstGeom prst="rect">
            <a:avLst/>
          </a:prstGeom>
          <a:solidFill>
            <a:srgbClr val="FDEDEC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— Class imbalance — 91.7% vs 8.3% split made accuracy useless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— Data leakage risk — had to be careful with scaling and provider encoding order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3931920" cy="594360"/>
          </a:xfrm>
          <a:prstGeom prst="rect">
            <a:avLst/>
          </a:prstGeom>
          <a:solidFill>
            <a:srgbClr val="FDEDEC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— Feature selection — deciding which engineered features genuinely add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B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29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— Hyperparameter search — balancing tuning time vs improvement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114800" cy="5943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371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Apply SMOTE to oversample fraud cases during training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0574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57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Try LightGBM and neural networks for comparison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114800" cy="594360"/>
          </a:xfrm>
          <a:prstGeom prst="rect">
            <a:avLst/>
          </a:prstGeom>
          <a:solidFill>
            <a:srgbClr val="E9F7E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743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Add time-based features from claim submission dates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42900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→ Build a live Streamlit dashboard for real-time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27432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ADC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</a:rPr>
              <a:t>📁  GitHub Repo:  github.com/your-team/healthcare-fraud-detection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</a:rPr>
              <a:t>📊  Dataset:  healthcare_fraud_detection.csv  (10,000 rows × 20 columns)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</a:rPr>
              <a:t>🏆  Best Model:  Tuned Random Forest  |  F1: 96.8%  |  ROC-AUC: 99.9%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ADC"/>
                </a:solidFill>
              </a:rPr>
              <a:t>📅  Submitted:  May 16,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Fraud Detection — ML Capstone</dc:title>
  <dc:subject>PptxGenJS Presentation</dc:subject>
  <dc:creator>PptxGenJS</dc:creator>
  <cp:lastModifiedBy>PptxGenJS</cp:lastModifiedBy>
  <cp:revision>1</cp:revision>
  <dcterms:created xsi:type="dcterms:W3CDTF">2026-05-14T09:03:12Z</dcterms:created>
  <dcterms:modified xsi:type="dcterms:W3CDTF">2026-05-14T09:03:12Z</dcterms:modified>
</cp:coreProperties>
</file>